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Barlow Condensed" charset="1" panose="00000506000000000000"/>
      <p:regular r:id="rId21"/>
    </p:embeddedFont>
    <p:embeddedFont>
      <p:font typeface="Blinker" charset="1" panose="02000000000000000000"/>
      <p:regular r:id="rId22"/>
    </p:embeddedFont>
    <p:embeddedFont>
      <p:font typeface="League Spartan" charset="1" panose="00000800000000000000"/>
      <p:regular r:id="rId23"/>
    </p:embeddedFont>
    <p:embeddedFont>
      <p:font typeface="TT Hoves Bold" charset="1" panose="02000003020000060003"/>
      <p:regular r:id="rId24"/>
    </p:embeddedFont>
    <p:embeddedFont>
      <p:font typeface="TT Interphases Bold" charset="1" panose="02000803060000020004"/>
      <p:regular r:id="rId25"/>
    </p:embeddedFont>
    <p:embeddedFont>
      <p:font typeface="TT Interphases" charset="1" panose="02000503020000020004"/>
      <p:regular r:id="rId26"/>
    </p:embeddedFont>
    <p:embeddedFont>
      <p:font typeface="Blinker Bold" charset="1" panose="02000000000000000000"/>
      <p:regular r:id="rId27"/>
    </p:embeddedFont>
    <p:embeddedFont>
      <p:font typeface="Poppins Bold" charset="1" panose="000008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56789" y="-1984929"/>
            <a:ext cx="12624196" cy="12624146"/>
            <a:chOff x="0" y="0"/>
            <a:chExt cx="6350025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2"/>
              <a:stretch>
                <a:fillRect l="-6020" t="0" r="-4397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1407406">
            <a:off x="6178738" y="-4043251"/>
            <a:ext cx="4467536" cy="17968611"/>
            <a:chOff x="0" y="0"/>
            <a:chExt cx="1176635" cy="47324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6635" cy="4732474"/>
            </a:xfrm>
            <a:custGeom>
              <a:avLst/>
              <a:gdLst/>
              <a:ahLst/>
              <a:cxnLst/>
              <a:rect r="r" b="b" t="t" l="l"/>
              <a:pathLst>
                <a:path h="4732474" w="1176635">
                  <a:moveTo>
                    <a:pt x="0" y="0"/>
                  </a:moveTo>
                  <a:lnTo>
                    <a:pt x="1176635" y="0"/>
                  </a:lnTo>
                  <a:lnTo>
                    <a:pt x="1176635" y="4732474"/>
                  </a:lnTo>
                  <a:lnTo>
                    <a:pt x="0" y="473247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176635" cy="4789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2700000">
            <a:off x="-4895234" y="2224946"/>
            <a:ext cx="8446229" cy="13172010"/>
            <a:chOff x="0" y="0"/>
            <a:chExt cx="2277659" cy="35520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77659" cy="3552041"/>
            </a:xfrm>
            <a:custGeom>
              <a:avLst/>
              <a:gdLst/>
              <a:ahLst/>
              <a:cxnLst/>
              <a:rect r="r" b="b" t="t" l="l"/>
              <a:pathLst>
                <a:path h="3552041" w="2277659">
                  <a:moveTo>
                    <a:pt x="0" y="0"/>
                  </a:moveTo>
                  <a:lnTo>
                    <a:pt x="2277659" y="0"/>
                  </a:lnTo>
                  <a:lnTo>
                    <a:pt x="2277659" y="3552041"/>
                  </a:lnTo>
                  <a:lnTo>
                    <a:pt x="0" y="3552041"/>
                  </a:lnTo>
                  <a:close/>
                </a:path>
              </a:pathLst>
            </a:custGeom>
            <a:solidFill>
              <a:srgbClr val="AC978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277659" cy="3609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5400000">
            <a:off x="-1466494" y="5745985"/>
            <a:ext cx="11907594" cy="13458085"/>
            <a:chOff x="0" y="0"/>
            <a:chExt cx="719158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9158" cy="812800"/>
            </a:xfrm>
            <a:custGeom>
              <a:avLst/>
              <a:gdLst/>
              <a:ahLst/>
              <a:cxnLst/>
              <a:rect r="r" b="b" t="t" l="l"/>
              <a:pathLst>
                <a:path h="812800" w="719158">
                  <a:moveTo>
                    <a:pt x="359579" y="0"/>
                  </a:moveTo>
                  <a:lnTo>
                    <a:pt x="719158" y="406400"/>
                  </a:lnTo>
                  <a:lnTo>
                    <a:pt x="359579" y="812800"/>
                  </a:lnTo>
                  <a:lnTo>
                    <a:pt x="0" y="406400"/>
                  </a:lnTo>
                  <a:lnTo>
                    <a:pt x="359579" y="0"/>
                  </a:lnTo>
                  <a:close/>
                </a:path>
              </a:pathLst>
            </a:custGeom>
            <a:solidFill>
              <a:srgbClr val="251D1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3605" y="82550"/>
              <a:ext cx="471948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971622" y="639353"/>
            <a:ext cx="444750" cy="700394"/>
          </a:xfrm>
          <a:custGeom>
            <a:avLst/>
            <a:gdLst/>
            <a:ahLst/>
            <a:cxnLst/>
            <a:rect r="r" b="b" t="t" l="l"/>
            <a:pathLst>
              <a:path h="700394" w="444750">
                <a:moveTo>
                  <a:pt x="0" y="0"/>
                </a:moveTo>
                <a:lnTo>
                  <a:pt x="444750" y="0"/>
                </a:lnTo>
                <a:lnTo>
                  <a:pt x="444750" y="700394"/>
                </a:lnTo>
                <a:lnTo>
                  <a:pt x="0" y="7003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564216" y="658230"/>
            <a:ext cx="2789540" cy="681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5"/>
              </a:lnSpc>
              <a:spcBef>
                <a:spcPct val="0"/>
              </a:spcBef>
            </a:pPr>
            <a:r>
              <a:rPr lang="en-US" sz="4017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Nova Stack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71622" y="1549297"/>
            <a:ext cx="8244723" cy="174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37"/>
              </a:lnSpc>
            </a:pPr>
            <a:r>
              <a:rPr lang="en-US" sz="10169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APPLICATION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31395" y="3576987"/>
            <a:ext cx="8244723" cy="2192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4"/>
              </a:lnSpc>
            </a:pPr>
            <a:r>
              <a:rPr lang="en-US" sz="631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TOURISME ÉCO-RESPONSABLE 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71622" y="8384836"/>
            <a:ext cx="3615534" cy="5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9"/>
              </a:lnSpc>
            </a:pPr>
            <a:r>
              <a:rPr lang="en-US" sz="2963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Presentation by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71622" y="8890575"/>
            <a:ext cx="4518706" cy="670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6"/>
              </a:lnSpc>
            </a:pPr>
            <a:r>
              <a:rPr lang="en-US" sz="3961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Nova Stack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500318" y="8755698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764853" y="885911"/>
            <a:ext cx="2476576" cy="2476567"/>
            <a:chOff x="0" y="0"/>
            <a:chExt cx="6350000" cy="63499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38888" t="0" r="-38888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77110" y="1028700"/>
            <a:ext cx="2476576" cy="2476567"/>
            <a:chOff x="0" y="0"/>
            <a:chExt cx="6350000" cy="63499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0" t="-2770" r="0" b="-277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308446" y="1028700"/>
            <a:ext cx="2476576" cy="2476567"/>
            <a:chOff x="0" y="0"/>
            <a:chExt cx="6350000" cy="63499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0" t="-2821" r="0" b="-3051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393147" y="4793696"/>
            <a:ext cx="2476576" cy="2476567"/>
            <a:chOff x="0" y="0"/>
            <a:chExt cx="6350000" cy="63499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 l="-10807" t="0" r="-10038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582722" y="4793696"/>
            <a:ext cx="2476576" cy="2476567"/>
            <a:chOff x="0" y="0"/>
            <a:chExt cx="6350000" cy="63499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1028700"/>
            <a:ext cx="1454106" cy="1454106"/>
          </a:xfrm>
          <a:custGeom>
            <a:avLst/>
            <a:gdLst/>
            <a:ahLst/>
            <a:cxnLst/>
            <a:rect r="r" b="b" t="t" l="l"/>
            <a:pathLst>
              <a:path h="1454106" w="1454106">
                <a:moveTo>
                  <a:pt x="0" y="0"/>
                </a:moveTo>
                <a:lnTo>
                  <a:pt x="1454106" y="0"/>
                </a:lnTo>
                <a:lnTo>
                  <a:pt x="1454106" y="1454106"/>
                </a:lnTo>
                <a:lnTo>
                  <a:pt x="0" y="14541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1028700" y="8998585"/>
            <a:ext cx="3433046" cy="47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20"/>
              </a:lnSpc>
            </a:pPr>
            <a:r>
              <a:rPr lang="en-US" b="true" sz="28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BORCELLE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28701" y="9085898"/>
            <a:ext cx="383059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Our Team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28702" y="9085898"/>
            <a:ext cx="383059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www.reallygreatsite.com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58861" y="3657752"/>
            <a:ext cx="357257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Sahar gaiche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29111" y="3657752"/>
            <a:ext cx="357257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Haythem Raggad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89459" y="3657752"/>
            <a:ext cx="357257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Fadi Zagdoud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21202" y="7569912"/>
            <a:ext cx="425454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KHAYREDDINE HILALI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48628" y="7569912"/>
            <a:ext cx="357257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Nihed BenAbdennour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58861" y="4082567"/>
            <a:ext cx="3572574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Co-Leader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229111" y="4082567"/>
            <a:ext cx="3572574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Leader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229111" y="7994727"/>
            <a:ext cx="3572574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Marketing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361077" y="7994727"/>
            <a:ext cx="3572574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Graphic Designer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4027249"/>
            <a:ext cx="5200411" cy="394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39"/>
              </a:lnSpc>
            </a:pPr>
            <a:r>
              <a:rPr lang="en-US" sz="9399" spc="-469" b="tru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Membres de l'équipe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5920609" y="-3811073"/>
            <a:ext cx="3940222" cy="4453280"/>
            <a:chOff x="0" y="0"/>
            <a:chExt cx="71915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9158" cy="812800"/>
            </a:xfrm>
            <a:custGeom>
              <a:avLst/>
              <a:gdLst/>
              <a:ahLst/>
              <a:cxnLst/>
              <a:rect r="r" b="b" t="t" l="l"/>
              <a:pathLst>
                <a:path h="812800" w="719158">
                  <a:moveTo>
                    <a:pt x="359579" y="0"/>
                  </a:moveTo>
                  <a:lnTo>
                    <a:pt x="719158" y="406400"/>
                  </a:lnTo>
                  <a:lnTo>
                    <a:pt x="359579" y="812800"/>
                  </a:lnTo>
                  <a:lnTo>
                    <a:pt x="0" y="406400"/>
                  </a:lnTo>
                  <a:lnTo>
                    <a:pt x="359579" y="0"/>
                  </a:lnTo>
                  <a:close/>
                </a:path>
              </a:pathLst>
            </a:custGeom>
            <a:solidFill>
              <a:srgbClr val="251D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3605" y="82550"/>
              <a:ext cx="471948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700000">
            <a:off x="14899460" y="-1961926"/>
            <a:ext cx="1618986" cy="2079784"/>
            <a:chOff x="0" y="0"/>
            <a:chExt cx="426400" cy="5477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6400" cy="547762"/>
            </a:xfrm>
            <a:custGeom>
              <a:avLst/>
              <a:gdLst/>
              <a:ahLst/>
              <a:cxnLst/>
              <a:rect r="r" b="b" t="t" l="l"/>
              <a:pathLst>
                <a:path h="547762" w="426400">
                  <a:moveTo>
                    <a:pt x="0" y="0"/>
                  </a:moveTo>
                  <a:lnTo>
                    <a:pt x="426400" y="0"/>
                  </a:lnTo>
                  <a:lnTo>
                    <a:pt x="426400" y="547762"/>
                  </a:lnTo>
                  <a:lnTo>
                    <a:pt x="0" y="547762"/>
                  </a:lnTo>
                  <a:close/>
                </a:path>
              </a:pathLst>
            </a:custGeom>
            <a:solidFill>
              <a:srgbClr val="AC978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26400" cy="6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5708953" y="-1883300"/>
            <a:ext cx="2525680" cy="25256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2545327"/>
            <a:ext cx="5689569" cy="779140"/>
            <a:chOff x="0" y="0"/>
            <a:chExt cx="1498487" cy="2052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98487" cy="205206"/>
            </a:xfrm>
            <a:custGeom>
              <a:avLst/>
              <a:gdLst/>
              <a:ahLst/>
              <a:cxnLst/>
              <a:rect r="r" b="b" t="t" l="l"/>
              <a:pathLst>
                <a:path h="205206" w="1498487">
                  <a:moveTo>
                    <a:pt x="0" y="0"/>
                  </a:moveTo>
                  <a:lnTo>
                    <a:pt x="1498487" y="0"/>
                  </a:lnTo>
                  <a:lnTo>
                    <a:pt x="1498487" y="205206"/>
                  </a:lnTo>
                  <a:lnTo>
                    <a:pt x="0" y="2052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498487" cy="262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39971" y="3637009"/>
            <a:ext cx="5693598" cy="779140"/>
            <a:chOff x="0" y="0"/>
            <a:chExt cx="1499548" cy="2052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99548" cy="205206"/>
            </a:xfrm>
            <a:custGeom>
              <a:avLst/>
              <a:gdLst/>
              <a:ahLst/>
              <a:cxnLst/>
              <a:rect r="r" b="b" t="t" l="l"/>
              <a:pathLst>
                <a:path h="205206" w="1499548">
                  <a:moveTo>
                    <a:pt x="0" y="0"/>
                  </a:moveTo>
                  <a:lnTo>
                    <a:pt x="1499548" y="0"/>
                  </a:lnTo>
                  <a:lnTo>
                    <a:pt x="1499548" y="205206"/>
                  </a:lnTo>
                  <a:lnTo>
                    <a:pt x="0" y="2052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499548" cy="262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265127" y="2702533"/>
            <a:ext cx="5488016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Blinker Bold"/>
                <a:ea typeface="Blinker Bold"/>
                <a:cs typeface="Blinker Bold"/>
                <a:sym typeface="Blinker Bold"/>
              </a:rPr>
              <a:t>Exemple RDF/XML (ontologie complète)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525360" y="3637009"/>
            <a:ext cx="5686143" cy="779140"/>
            <a:chOff x="0" y="0"/>
            <a:chExt cx="1497585" cy="2052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97585" cy="205206"/>
            </a:xfrm>
            <a:custGeom>
              <a:avLst/>
              <a:gdLst/>
              <a:ahLst/>
              <a:cxnLst/>
              <a:rect r="r" b="b" t="t" l="l"/>
              <a:pathLst>
                <a:path h="205206" w="1497585">
                  <a:moveTo>
                    <a:pt x="0" y="0"/>
                  </a:moveTo>
                  <a:lnTo>
                    <a:pt x="1497585" y="0"/>
                  </a:lnTo>
                  <a:lnTo>
                    <a:pt x="1497585" y="205206"/>
                  </a:lnTo>
                  <a:lnTo>
                    <a:pt x="0" y="2052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497585" cy="262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183695" y="3773849"/>
            <a:ext cx="2479603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Blinker Bold"/>
                <a:ea typeface="Blinker Bold"/>
                <a:cs typeface="Blinker Bold"/>
                <a:sym typeface="Blinker Bold"/>
              </a:rPr>
              <a:t>Définir les Classes 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2525360" y="4730474"/>
            <a:ext cx="5689569" cy="779140"/>
            <a:chOff x="0" y="0"/>
            <a:chExt cx="1498487" cy="20520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98487" cy="205206"/>
            </a:xfrm>
            <a:custGeom>
              <a:avLst/>
              <a:gdLst/>
              <a:ahLst/>
              <a:cxnLst/>
              <a:rect r="r" b="b" t="t" l="l"/>
              <a:pathLst>
                <a:path h="205206" w="1498487">
                  <a:moveTo>
                    <a:pt x="0" y="0"/>
                  </a:moveTo>
                  <a:lnTo>
                    <a:pt x="1498487" y="0"/>
                  </a:lnTo>
                  <a:lnTo>
                    <a:pt x="1498487" y="205206"/>
                  </a:lnTo>
                  <a:lnTo>
                    <a:pt x="0" y="2052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498487" cy="262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695458" y="4867314"/>
            <a:ext cx="5349373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Blinker Bold"/>
                <a:ea typeface="Blinker Bold"/>
                <a:cs typeface="Blinker Bold"/>
                <a:sym typeface="Blinker Bold"/>
              </a:rPr>
              <a:t>Définir les Object Properties (relations)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17516" y="3773849"/>
            <a:ext cx="467453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Blinker Bold"/>
                <a:ea typeface="Blinker Bold"/>
                <a:cs typeface="Blinker Bold"/>
                <a:sym typeface="Blinker Bold"/>
              </a:rPr>
              <a:t>requêtes DL Query dans Protégé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2521934" y="5823939"/>
            <a:ext cx="5689569" cy="779140"/>
            <a:chOff x="0" y="0"/>
            <a:chExt cx="1498487" cy="20520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98487" cy="205206"/>
            </a:xfrm>
            <a:custGeom>
              <a:avLst/>
              <a:gdLst/>
              <a:ahLst/>
              <a:cxnLst/>
              <a:rect r="r" b="b" t="t" l="l"/>
              <a:pathLst>
                <a:path h="205206" w="1498487">
                  <a:moveTo>
                    <a:pt x="0" y="0"/>
                  </a:moveTo>
                  <a:lnTo>
                    <a:pt x="1498487" y="0"/>
                  </a:lnTo>
                  <a:lnTo>
                    <a:pt x="1498487" y="205206"/>
                  </a:lnTo>
                  <a:lnTo>
                    <a:pt x="0" y="2052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498487" cy="262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450238" y="5960779"/>
            <a:ext cx="3719405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Blinker Bold"/>
                <a:ea typeface="Blinker Bold"/>
                <a:cs typeface="Blinker Bold"/>
                <a:sym typeface="Blinker Bold"/>
              </a:rPr>
              <a:t>Définir les Data Properties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2521934" y="6917404"/>
            <a:ext cx="5689569" cy="779140"/>
            <a:chOff x="0" y="0"/>
            <a:chExt cx="1498487" cy="20520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98487" cy="205206"/>
            </a:xfrm>
            <a:custGeom>
              <a:avLst/>
              <a:gdLst/>
              <a:ahLst/>
              <a:cxnLst/>
              <a:rect r="r" b="b" t="t" l="l"/>
              <a:pathLst>
                <a:path h="205206" w="1498487">
                  <a:moveTo>
                    <a:pt x="0" y="0"/>
                  </a:moveTo>
                  <a:lnTo>
                    <a:pt x="1498487" y="0"/>
                  </a:lnTo>
                  <a:lnTo>
                    <a:pt x="1498487" y="205206"/>
                  </a:lnTo>
                  <a:lnTo>
                    <a:pt x="0" y="2052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1498487" cy="262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3341138" y="7030046"/>
            <a:ext cx="4164716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Blinker Bold"/>
                <a:ea typeface="Blinker Bold"/>
                <a:cs typeface="Blinker Bold"/>
                <a:sym typeface="Blinker Bold"/>
              </a:rPr>
              <a:t>Ajouter des Restrictions (OWL)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09937" y="23402"/>
            <a:ext cx="9435294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TABLE OF CONTENT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3483455" y="735883"/>
            <a:ext cx="444750" cy="700394"/>
          </a:xfrm>
          <a:custGeom>
            <a:avLst/>
            <a:gdLst/>
            <a:ahLst/>
            <a:cxnLst/>
            <a:rect r="r" b="b" t="t" l="l"/>
            <a:pathLst>
              <a:path h="700394" w="444750">
                <a:moveTo>
                  <a:pt x="0" y="0"/>
                </a:moveTo>
                <a:lnTo>
                  <a:pt x="444750" y="0"/>
                </a:lnTo>
                <a:lnTo>
                  <a:pt x="444750" y="700394"/>
                </a:lnTo>
                <a:lnTo>
                  <a:pt x="0" y="700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4076048" y="754760"/>
            <a:ext cx="2789540" cy="68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5"/>
              </a:lnSpc>
              <a:spcBef>
                <a:spcPct val="0"/>
              </a:spcBef>
            </a:pPr>
            <a:r>
              <a:rPr lang="en-US" sz="4017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Novastack</a:t>
            </a:r>
          </a:p>
        </p:txBody>
      </p:sp>
      <p:grpSp>
        <p:nvGrpSpPr>
          <p:cNvPr name="Group 38" id="38"/>
          <p:cNvGrpSpPr/>
          <p:nvPr/>
        </p:nvGrpSpPr>
        <p:grpSpPr>
          <a:xfrm rot="-2700000">
            <a:off x="-1782467" y="6655422"/>
            <a:ext cx="3580374" cy="5738426"/>
            <a:chOff x="0" y="0"/>
            <a:chExt cx="1351284" cy="216576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51284" cy="2165763"/>
            </a:xfrm>
            <a:custGeom>
              <a:avLst/>
              <a:gdLst/>
              <a:ahLst/>
              <a:cxnLst/>
              <a:rect r="r" b="b" t="t" l="l"/>
              <a:pathLst>
                <a:path h="2165763" w="1351284">
                  <a:moveTo>
                    <a:pt x="0" y="0"/>
                  </a:moveTo>
                  <a:lnTo>
                    <a:pt x="1351284" y="0"/>
                  </a:lnTo>
                  <a:lnTo>
                    <a:pt x="1351284" y="2165763"/>
                  </a:lnTo>
                  <a:lnTo>
                    <a:pt x="0" y="2165763"/>
                  </a:lnTo>
                  <a:close/>
                </a:path>
              </a:pathLst>
            </a:custGeom>
            <a:solidFill>
              <a:srgbClr val="AC9782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351284" cy="2222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5400000">
            <a:off x="-1443520" y="7829921"/>
            <a:ext cx="6742743" cy="7620718"/>
            <a:chOff x="0" y="0"/>
            <a:chExt cx="719158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9158" cy="812800"/>
            </a:xfrm>
            <a:custGeom>
              <a:avLst/>
              <a:gdLst/>
              <a:ahLst/>
              <a:cxnLst/>
              <a:rect r="r" b="b" t="t" l="l"/>
              <a:pathLst>
                <a:path h="812800" w="719158">
                  <a:moveTo>
                    <a:pt x="359579" y="0"/>
                  </a:moveTo>
                  <a:lnTo>
                    <a:pt x="719158" y="406400"/>
                  </a:lnTo>
                  <a:lnTo>
                    <a:pt x="359579" y="812800"/>
                  </a:lnTo>
                  <a:lnTo>
                    <a:pt x="0" y="406400"/>
                  </a:lnTo>
                  <a:lnTo>
                    <a:pt x="359579" y="0"/>
                  </a:lnTo>
                  <a:close/>
                </a:path>
              </a:pathLst>
            </a:custGeom>
            <a:solidFill>
              <a:srgbClr val="251D17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123605" y="82550"/>
              <a:ext cx="471948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5400000">
            <a:off x="7720" y="8578831"/>
            <a:ext cx="1762519" cy="1762519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250845" y="9013069"/>
            <a:ext cx="1276270" cy="92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6"/>
              </a:lnSpc>
            </a:pPr>
            <a:r>
              <a:rPr lang="en-US" sz="546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2521934" y="2545327"/>
            <a:ext cx="5689569" cy="779140"/>
            <a:chOff x="0" y="0"/>
            <a:chExt cx="1498487" cy="20520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98487" cy="205206"/>
            </a:xfrm>
            <a:custGeom>
              <a:avLst/>
              <a:gdLst/>
              <a:ahLst/>
              <a:cxnLst/>
              <a:rect r="r" b="b" t="t" l="l"/>
              <a:pathLst>
                <a:path h="205206" w="1498487">
                  <a:moveTo>
                    <a:pt x="0" y="0"/>
                  </a:moveTo>
                  <a:lnTo>
                    <a:pt x="1498487" y="0"/>
                  </a:lnTo>
                  <a:lnTo>
                    <a:pt x="1498487" y="205206"/>
                  </a:lnTo>
                  <a:lnTo>
                    <a:pt x="0" y="2052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1498487" cy="262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4469288" y="2682167"/>
            <a:ext cx="1801713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Blinker Bold"/>
                <a:ea typeface="Blinker Bold"/>
                <a:cs typeface="Blinker Bold"/>
                <a:sym typeface="Blinker Bold"/>
              </a:rPr>
              <a:t>Introduction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139971" y="4730474"/>
            <a:ext cx="5693598" cy="878560"/>
            <a:chOff x="0" y="0"/>
            <a:chExt cx="1499548" cy="23139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99548" cy="231390"/>
            </a:xfrm>
            <a:custGeom>
              <a:avLst/>
              <a:gdLst/>
              <a:ahLst/>
              <a:cxnLst/>
              <a:rect r="r" b="b" t="t" l="l"/>
              <a:pathLst>
                <a:path h="231390" w="1499548">
                  <a:moveTo>
                    <a:pt x="0" y="0"/>
                  </a:moveTo>
                  <a:lnTo>
                    <a:pt x="1499548" y="0"/>
                  </a:lnTo>
                  <a:lnTo>
                    <a:pt x="1499548" y="231390"/>
                  </a:lnTo>
                  <a:lnTo>
                    <a:pt x="0" y="2313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1499548" cy="288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9945867" y="4917025"/>
            <a:ext cx="467453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Blinker Bold"/>
                <a:ea typeface="Blinker Bold"/>
                <a:cs typeface="Blinker Bold"/>
                <a:sym typeface="Blinker Bold"/>
              </a:rPr>
              <a:t>Créer les Individus (Instances)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8658860" y="-4619655"/>
            <a:ext cx="12660374" cy="14303787"/>
            <a:chOff x="0" y="0"/>
            <a:chExt cx="812800" cy="9183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918308"/>
            </a:xfrm>
            <a:custGeom>
              <a:avLst/>
              <a:gdLst/>
              <a:ahLst/>
              <a:cxnLst/>
              <a:rect r="r" b="b" t="t" l="l"/>
              <a:pathLst>
                <a:path h="918308" w="812800">
                  <a:moveTo>
                    <a:pt x="406400" y="0"/>
                  </a:moveTo>
                  <a:lnTo>
                    <a:pt x="812800" y="459154"/>
                  </a:lnTo>
                  <a:lnTo>
                    <a:pt x="406400" y="918308"/>
                  </a:lnTo>
                  <a:lnTo>
                    <a:pt x="0" y="459154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51D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100684"/>
              <a:ext cx="533400" cy="659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700000">
            <a:off x="-3054872" y="5239227"/>
            <a:ext cx="5130656" cy="8223131"/>
            <a:chOff x="0" y="0"/>
            <a:chExt cx="1351284" cy="21657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51284" cy="2165763"/>
            </a:xfrm>
            <a:custGeom>
              <a:avLst/>
              <a:gdLst/>
              <a:ahLst/>
              <a:cxnLst/>
              <a:rect r="r" b="b" t="t" l="l"/>
              <a:pathLst>
                <a:path h="2165763" w="1351284">
                  <a:moveTo>
                    <a:pt x="0" y="0"/>
                  </a:moveTo>
                  <a:lnTo>
                    <a:pt x="1351284" y="0"/>
                  </a:lnTo>
                  <a:lnTo>
                    <a:pt x="1351284" y="2165763"/>
                  </a:lnTo>
                  <a:lnTo>
                    <a:pt x="0" y="2165763"/>
                  </a:lnTo>
                  <a:close/>
                </a:path>
              </a:pathLst>
            </a:custGeom>
            <a:solidFill>
              <a:srgbClr val="AC978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351284" cy="2222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-2569163" y="6922278"/>
            <a:ext cx="9662313" cy="10920446"/>
            <a:chOff x="0" y="0"/>
            <a:chExt cx="719158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9158" cy="812800"/>
            </a:xfrm>
            <a:custGeom>
              <a:avLst/>
              <a:gdLst/>
              <a:ahLst/>
              <a:cxnLst/>
              <a:rect r="r" b="b" t="t" l="l"/>
              <a:pathLst>
                <a:path h="812800" w="719158">
                  <a:moveTo>
                    <a:pt x="359579" y="0"/>
                  </a:moveTo>
                  <a:lnTo>
                    <a:pt x="719158" y="406400"/>
                  </a:lnTo>
                  <a:lnTo>
                    <a:pt x="359579" y="812800"/>
                  </a:lnTo>
                  <a:lnTo>
                    <a:pt x="0" y="406400"/>
                  </a:lnTo>
                  <a:lnTo>
                    <a:pt x="359579" y="0"/>
                  </a:lnTo>
                  <a:close/>
                </a:path>
              </a:pathLst>
            </a:custGeom>
            <a:solidFill>
              <a:srgbClr val="251D1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3605" y="82550"/>
              <a:ext cx="471948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-489544" y="7995460"/>
            <a:ext cx="2525680" cy="252568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973090" y="2389364"/>
            <a:ext cx="8005137" cy="1264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84"/>
              </a:lnSpc>
            </a:pPr>
            <a:r>
              <a:rPr lang="en-US" sz="741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483455" y="735883"/>
            <a:ext cx="444750" cy="700394"/>
          </a:xfrm>
          <a:custGeom>
            <a:avLst/>
            <a:gdLst/>
            <a:ahLst/>
            <a:cxnLst/>
            <a:rect r="r" b="b" t="t" l="l"/>
            <a:pathLst>
              <a:path h="700394" w="444750">
                <a:moveTo>
                  <a:pt x="0" y="0"/>
                </a:moveTo>
                <a:lnTo>
                  <a:pt x="444750" y="0"/>
                </a:lnTo>
                <a:lnTo>
                  <a:pt x="444750" y="700394"/>
                </a:lnTo>
                <a:lnTo>
                  <a:pt x="0" y="700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076048" y="754760"/>
            <a:ext cx="2789540" cy="68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5"/>
              </a:lnSpc>
              <a:spcBef>
                <a:spcPct val="0"/>
              </a:spcBef>
            </a:pPr>
            <a:r>
              <a:rPr lang="en-US" sz="4017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NovaStack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161" y="8839226"/>
            <a:ext cx="1276270" cy="92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6"/>
              </a:lnSpc>
            </a:pPr>
            <a:r>
              <a:rPr lang="en-US" sz="546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73090" y="3892644"/>
            <a:ext cx="8005137" cy="1416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0"/>
              </a:lnSpc>
              <a:spcBef>
                <a:spcPct val="0"/>
              </a:spcBef>
            </a:pPr>
            <a:r>
              <a:rPr lang="en-US" sz="2728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Développer une application de voyage sémantique qui recommande des activités touristiques locales et des hébergements qui ont une faible empreinte carbone.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5920609" y="-3811073"/>
            <a:ext cx="3940222" cy="4453280"/>
            <a:chOff x="0" y="0"/>
            <a:chExt cx="71915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9158" cy="812800"/>
            </a:xfrm>
            <a:custGeom>
              <a:avLst/>
              <a:gdLst/>
              <a:ahLst/>
              <a:cxnLst/>
              <a:rect r="r" b="b" t="t" l="l"/>
              <a:pathLst>
                <a:path h="812800" w="719158">
                  <a:moveTo>
                    <a:pt x="359579" y="0"/>
                  </a:moveTo>
                  <a:lnTo>
                    <a:pt x="719158" y="406400"/>
                  </a:lnTo>
                  <a:lnTo>
                    <a:pt x="359579" y="812800"/>
                  </a:lnTo>
                  <a:lnTo>
                    <a:pt x="0" y="406400"/>
                  </a:lnTo>
                  <a:lnTo>
                    <a:pt x="359579" y="0"/>
                  </a:lnTo>
                  <a:close/>
                </a:path>
              </a:pathLst>
            </a:custGeom>
            <a:solidFill>
              <a:srgbClr val="251D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3605" y="82550"/>
              <a:ext cx="471948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5237749" y="-3119961"/>
            <a:ext cx="8239748" cy="18699806"/>
            <a:chOff x="0" y="0"/>
            <a:chExt cx="2170139" cy="49250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0139" cy="4925052"/>
            </a:xfrm>
            <a:custGeom>
              <a:avLst/>
              <a:gdLst/>
              <a:ahLst/>
              <a:cxnLst/>
              <a:rect r="r" b="b" t="t" l="l"/>
              <a:pathLst>
                <a:path h="4925052" w="2170139">
                  <a:moveTo>
                    <a:pt x="0" y="0"/>
                  </a:moveTo>
                  <a:lnTo>
                    <a:pt x="2170139" y="0"/>
                  </a:lnTo>
                  <a:lnTo>
                    <a:pt x="2170139" y="4925052"/>
                  </a:lnTo>
                  <a:lnTo>
                    <a:pt x="0" y="492505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0139" cy="4982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899460" y="-1961926"/>
            <a:ext cx="1618986" cy="2079784"/>
            <a:chOff x="0" y="0"/>
            <a:chExt cx="426400" cy="5477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6400" cy="547762"/>
            </a:xfrm>
            <a:custGeom>
              <a:avLst/>
              <a:gdLst/>
              <a:ahLst/>
              <a:cxnLst/>
              <a:rect r="r" b="b" t="t" l="l"/>
              <a:pathLst>
                <a:path h="547762" w="426400">
                  <a:moveTo>
                    <a:pt x="0" y="0"/>
                  </a:moveTo>
                  <a:lnTo>
                    <a:pt x="426400" y="0"/>
                  </a:lnTo>
                  <a:lnTo>
                    <a:pt x="426400" y="547762"/>
                  </a:lnTo>
                  <a:lnTo>
                    <a:pt x="0" y="547762"/>
                  </a:lnTo>
                  <a:close/>
                </a:path>
              </a:pathLst>
            </a:custGeom>
            <a:solidFill>
              <a:srgbClr val="AC978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26400" cy="6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15708953" y="-1883300"/>
            <a:ext cx="2525680" cy="252568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424775" y="6479481"/>
            <a:ext cx="4692585" cy="5521515"/>
          </a:xfrm>
          <a:custGeom>
            <a:avLst/>
            <a:gdLst/>
            <a:ahLst/>
            <a:cxnLst/>
            <a:rect r="r" b="b" t="t" l="l"/>
            <a:pathLst>
              <a:path h="5521515" w="4692585">
                <a:moveTo>
                  <a:pt x="0" y="0"/>
                </a:moveTo>
                <a:lnTo>
                  <a:pt x="4692585" y="0"/>
                </a:lnTo>
                <a:lnTo>
                  <a:pt x="4692585" y="5521515"/>
                </a:lnTo>
                <a:lnTo>
                  <a:pt x="0" y="55215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30673" y="625944"/>
            <a:ext cx="9435294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DÉFINIR LES CLASSES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86040" y="2583392"/>
            <a:ext cx="8555108" cy="723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7117" indent="-258558" lvl="1">
              <a:lnSpc>
                <a:spcPts val="3353"/>
              </a:lnSpc>
              <a:buFont typeface="Arial"/>
              <a:buChar char="•"/>
            </a:pPr>
            <a:r>
              <a:rPr lang="en-US" sz="2395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Voyageur </a:t>
            </a:r>
          </a:p>
          <a:p>
            <a:pPr algn="l" marL="517117" indent="-258558" lvl="1">
              <a:lnSpc>
                <a:spcPts val="3353"/>
              </a:lnSpc>
              <a:buFont typeface="Arial"/>
              <a:buChar char="•"/>
            </a:pPr>
            <a:r>
              <a:rPr lang="en-US" sz="2395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Destination </a:t>
            </a:r>
          </a:p>
          <a:p>
            <a:pPr algn="l" marL="517117" indent="-258558" lvl="1">
              <a:lnSpc>
                <a:spcPts val="3353"/>
              </a:lnSpc>
              <a:buFont typeface="Arial"/>
              <a:buChar char="•"/>
            </a:pPr>
            <a:r>
              <a:rPr lang="en-US" sz="2395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Hébergement </a:t>
            </a:r>
          </a:p>
          <a:p>
            <a:pPr algn="l" marL="517117" indent="-258558" lvl="1">
              <a:lnSpc>
                <a:spcPts val="3353"/>
              </a:lnSpc>
              <a:buFont typeface="Arial"/>
              <a:buChar char="•"/>
            </a:pPr>
            <a:r>
              <a:rPr lang="en-US" sz="2395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Transport </a:t>
            </a:r>
          </a:p>
          <a:p>
            <a:pPr algn="l" marL="517117" indent="-258558" lvl="1">
              <a:lnSpc>
                <a:spcPts val="3353"/>
              </a:lnSpc>
              <a:buFont typeface="Arial"/>
              <a:buChar char="•"/>
            </a:pPr>
            <a:r>
              <a:rPr lang="en-US" sz="2395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TransportPublic </a:t>
            </a:r>
          </a:p>
          <a:p>
            <a:pPr algn="l" marL="517117" indent="-258558" lvl="1">
              <a:lnSpc>
                <a:spcPts val="3353"/>
              </a:lnSpc>
              <a:buFont typeface="Arial"/>
              <a:buChar char="•"/>
            </a:pPr>
            <a:r>
              <a:rPr lang="en-US" sz="2395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Vélo </a:t>
            </a:r>
          </a:p>
          <a:p>
            <a:pPr algn="l" marL="517117" indent="-258558" lvl="1">
              <a:lnSpc>
                <a:spcPts val="3353"/>
              </a:lnSpc>
              <a:buFont typeface="Arial"/>
              <a:buChar char="•"/>
            </a:pPr>
            <a:r>
              <a:rPr lang="en-US" sz="2395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Covoiturage </a:t>
            </a:r>
          </a:p>
          <a:p>
            <a:pPr algn="l" marL="517117" indent="-258558" lvl="1">
              <a:lnSpc>
                <a:spcPts val="3353"/>
              </a:lnSpc>
              <a:buFont typeface="Arial"/>
              <a:buChar char="•"/>
            </a:pPr>
            <a:r>
              <a:rPr lang="en-US" sz="2395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Train </a:t>
            </a:r>
          </a:p>
          <a:p>
            <a:pPr algn="l" marL="517117" indent="-258558" lvl="1">
              <a:lnSpc>
                <a:spcPts val="3353"/>
              </a:lnSpc>
              <a:buFont typeface="Arial"/>
              <a:buChar char="•"/>
            </a:pPr>
            <a:r>
              <a:rPr lang="en-US" sz="2395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Avion </a:t>
            </a:r>
          </a:p>
          <a:p>
            <a:pPr algn="l" marL="517117" indent="-258558" lvl="1">
              <a:lnSpc>
                <a:spcPts val="3353"/>
              </a:lnSpc>
              <a:buFont typeface="Arial"/>
              <a:buChar char="•"/>
            </a:pPr>
            <a:r>
              <a:rPr lang="en-US" sz="2395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ActivitéTouristique </a:t>
            </a:r>
          </a:p>
          <a:p>
            <a:pPr algn="l" marL="517117" indent="-258558" lvl="1">
              <a:lnSpc>
                <a:spcPts val="3353"/>
              </a:lnSpc>
              <a:buFont typeface="Arial"/>
              <a:buChar char="•"/>
            </a:pPr>
            <a:r>
              <a:rPr lang="en-US" sz="2395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ÉvénementCulturel </a:t>
            </a:r>
          </a:p>
          <a:p>
            <a:pPr algn="l" marL="517117" indent="-258558" lvl="1">
              <a:lnSpc>
                <a:spcPts val="3353"/>
              </a:lnSpc>
              <a:buFont typeface="Arial"/>
              <a:buChar char="•"/>
            </a:pPr>
            <a:r>
              <a:rPr lang="en-US" sz="2395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GastronomieLocale </a:t>
            </a:r>
          </a:p>
          <a:p>
            <a:pPr algn="l" marL="517117" indent="-258558" lvl="1">
              <a:lnSpc>
                <a:spcPts val="3353"/>
              </a:lnSpc>
              <a:buFont typeface="Arial"/>
              <a:buChar char="•"/>
            </a:pPr>
            <a:r>
              <a:rPr lang="en-US" sz="2395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CertificationÉcologique </a:t>
            </a:r>
          </a:p>
          <a:p>
            <a:pPr algn="l" marL="517117" indent="-258558" lvl="1">
              <a:lnSpc>
                <a:spcPts val="3353"/>
              </a:lnSpc>
              <a:buFont typeface="Arial"/>
              <a:buChar char="•"/>
            </a:pPr>
            <a:r>
              <a:rPr lang="en-US" sz="2395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EmpreinteCarbone </a:t>
            </a:r>
          </a:p>
          <a:p>
            <a:pPr algn="l" marL="517117" indent="-258558" lvl="1">
              <a:lnSpc>
                <a:spcPts val="3353"/>
              </a:lnSpc>
              <a:buFont typeface="Arial"/>
              <a:buChar char="•"/>
            </a:pPr>
            <a:r>
              <a:rPr lang="en-US" sz="2395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CommunautéLocale </a:t>
            </a:r>
          </a:p>
          <a:p>
            <a:pPr algn="l" marL="517117" indent="-258558" lvl="1">
              <a:lnSpc>
                <a:spcPts val="3353"/>
              </a:lnSpc>
              <a:buFont typeface="Arial"/>
              <a:buChar char="•"/>
            </a:pPr>
            <a:r>
              <a:rPr lang="en-US" sz="2395">
                <a:solidFill>
                  <a:srgbClr val="FFFFFF"/>
                </a:solidFill>
                <a:latin typeface="Blinker"/>
                <a:ea typeface="Blinker"/>
                <a:cs typeface="Blinker"/>
                <a:sym typeface="Blinker"/>
              </a:rPr>
              <a:t>RessourceNaturelle </a:t>
            </a:r>
          </a:p>
          <a:p>
            <a:pPr algn="l">
              <a:lnSpc>
                <a:spcPts val="3353"/>
              </a:lnSpc>
              <a:spcBef>
                <a:spcPct val="0"/>
              </a:spcBef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483455" y="735883"/>
            <a:ext cx="444750" cy="700394"/>
          </a:xfrm>
          <a:custGeom>
            <a:avLst/>
            <a:gdLst/>
            <a:ahLst/>
            <a:cxnLst/>
            <a:rect r="r" b="b" t="t" l="l"/>
            <a:pathLst>
              <a:path h="700394" w="444750">
                <a:moveTo>
                  <a:pt x="0" y="0"/>
                </a:moveTo>
                <a:lnTo>
                  <a:pt x="444750" y="0"/>
                </a:lnTo>
                <a:lnTo>
                  <a:pt x="444750" y="700394"/>
                </a:lnTo>
                <a:lnTo>
                  <a:pt x="0" y="7003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030004" y="864526"/>
            <a:ext cx="2789540" cy="68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5"/>
              </a:lnSpc>
              <a:spcBef>
                <a:spcPct val="0"/>
              </a:spcBef>
            </a:pPr>
            <a:r>
              <a:rPr lang="en-US" sz="4017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NovaStack</a:t>
            </a:r>
          </a:p>
        </p:txBody>
      </p:sp>
      <p:grpSp>
        <p:nvGrpSpPr>
          <p:cNvPr name="Group 19" id="19"/>
          <p:cNvGrpSpPr/>
          <p:nvPr/>
        </p:nvGrpSpPr>
        <p:grpSpPr>
          <a:xfrm rot="-2700000">
            <a:off x="-1782467" y="6655422"/>
            <a:ext cx="3580374" cy="5738426"/>
            <a:chOff x="0" y="0"/>
            <a:chExt cx="1351284" cy="216576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51284" cy="2165763"/>
            </a:xfrm>
            <a:custGeom>
              <a:avLst/>
              <a:gdLst/>
              <a:ahLst/>
              <a:cxnLst/>
              <a:rect r="r" b="b" t="t" l="l"/>
              <a:pathLst>
                <a:path h="2165763" w="1351284">
                  <a:moveTo>
                    <a:pt x="0" y="0"/>
                  </a:moveTo>
                  <a:lnTo>
                    <a:pt x="1351284" y="0"/>
                  </a:lnTo>
                  <a:lnTo>
                    <a:pt x="1351284" y="2165763"/>
                  </a:lnTo>
                  <a:lnTo>
                    <a:pt x="0" y="2165763"/>
                  </a:lnTo>
                  <a:close/>
                </a:path>
              </a:pathLst>
            </a:custGeom>
            <a:solidFill>
              <a:srgbClr val="AC978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351284" cy="2222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5400000">
            <a:off x="-1443520" y="7829921"/>
            <a:ext cx="6742743" cy="7620718"/>
            <a:chOff x="0" y="0"/>
            <a:chExt cx="719158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9158" cy="812800"/>
            </a:xfrm>
            <a:custGeom>
              <a:avLst/>
              <a:gdLst/>
              <a:ahLst/>
              <a:cxnLst/>
              <a:rect r="r" b="b" t="t" l="l"/>
              <a:pathLst>
                <a:path h="812800" w="719158">
                  <a:moveTo>
                    <a:pt x="359579" y="0"/>
                  </a:moveTo>
                  <a:lnTo>
                    <a:pt x="719158" y="406400"/>
                  </a:lnTo>
                  <a:lnTo>
                    <a:pt x="359579" y="812800"/>
                  </a:lnTo>
                  <a:lnTo>
                    <a:pt x="0" y="406400"/>
                  </a:lnTo>
                  <a:lnTo>
                    <a:pt x="359579" y="0"/>
                  </a:lnTo>
                  <a:close/>
                </a:path>
              </a:pathLst>
            </a:custGeom>
            <a:solidFill>
              <a:srgbClr val="251D17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23605" y="82550"/>
              <a:ext cx="471948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5400000">
            <a:off x="7720" y="8578831"/>
            <a:ext cx="1762519" cy="1762519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50845" y="9013069"/>
            <a:ext cx="1276270" cy="92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6"/>
              </a:lnSpc>
            </a:pPr>
            <a:r>
              <a:rPr lang="en-US" sz="546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5920609" y="-3811073"/>
            <a:ext cx="3940222" cy="4453280"/>
            <a:chOff x="0" y="0"/>
            <a:chExt cx="71915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9158" cy="812800"/>
            </a:xfrm>
            <a:custGeom>
              <a:avLst/>
              <a:gdLst/>
              <a:ahLst/>
              <a:cxnLst/>
              <a:rect r="r" b="b" t="t" l="l"/>
              <a:pathLst>
                <a:path h="812800" w="719158">
                  <a:moveTo>
                    <a:pt x="359579" y="0"/>
                  </a:moveTo>
                  <a:lnTo>
                    <a:pt x="719158" y="406400"/>
                  </a:lnTo>
                  <a:lnTo>
                    <a:pt x="359579" y="812800"/>
                  </a:lnTo>
                  <a:lnTo>
                    <a:pt x="0" y="406400"/>
                  </a:lnTo>
                  <a:lnTo>
                    <a:pt x="359579" y="0"/>
                  </a:lnTo>
                  <a:close/>
                </a:path>
              </a:pathLst>
            </a:custGeom>
            <a:solidFill>
              <a:srgbClr val="251D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3605" y="82550"/>
              <a:ext cx="471948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700000">
            <a:off x="14899460" y="-1961926"/>
            <a:ext cx="1618986" cy="2079784"/>
            <a:chOff x="0" y="0"/>
            <a:chExt cx="426400" cy="5477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6400" cy="547762"/>
            </a:xfrm>
            <a:custGeom>
              <a:avLst/>
              <a:gdLst/>
              <a:ahLst/>
              <a:cxnLst/>
              <a:rect r="r" b="b" t="t" l="l"/>
              <a:pathLst>
                <a:path h="547762" w="426400">
                  <a:moveTo>
                    <a:pt x="0" y="0"/>
                  </a:moveTo>
                  <a:lnTo>
                    <a:pt x="426400" y="0"/>
                  </a:lnTo>
                  <a:lnTo>
                    <a:pt x="426400" y="547762"/>
                  </a:lnTo>
                  <a:lnTo>
                    <a:pt x="0" y="547762"/>
                  </a:lnTo>
                  <a:close/>
                </a:path>
              </a:pathLst>
            </a:custGeom>
            <a:solidFill>
              <a:srgbClr val="AC978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26400" cy="6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5708953" y="-1883300"/>
            <a:ext cx="2525680" cy="25256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483455" y="735883"/>
            <a:ext cx="444750" cy="700394"/>
          </a:xfrm>
          <a:custGeom>
            <a:avLst/>
            <a:gdLst/>
            <a:ahLst/>
            <a:cxnLst/>
            <a:rect r="r" b="b" t="t" l="l"/>
            <a:pathLst>
              <a:path h="700394" w="444750">
                <a:moveTo>
                  <a:pt x="0" y="0"/>
                </a:moveTo>
                <a:lnTo>
                  <a:pt x="444750" y="0"/>
                </a:lnTo>
                <a:lnTo>
                  <a:pt x="444750" y="700394"/>
                </a:lnTo>
                <a:lnTo>
                  <a:pt x="0" y="700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5400000">
            <a:off x="7720" y="8578831"/>
            <a:ext cx="1762519" cy="176251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398871" y="3319513"/>
            <a:ext cx="10268064" cy="3978623"/>
          </a:xfrm>
          <a:custGeom>
            <a:avLst/>
            <a:gdLst/>
            <a:ahLst/>
            <a:cxnLst/>
            <a:rect r="r" b="b" t="t" l="l"/>
            <a:pathLst>
              <a:path h="3978623" w="10268064">
                <a:moveTo>
                  <a:pt x="0" y="0"/>
                </a:moveTo>
                <a:lnTo>
                  <a:pt x="10268064" y="0"/>
                </a:lnTo>
                <a:lnTo>
                  <a:pt x="10268064" y="3978624"/>
                </a:lnTo>
                <a:lnTo>
                  <a:pt x="0" y="39786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77211" y="140169"/>
            <a:ext cx="11599727" cy="189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DÉFINIR LES OBJECT PROPERTIES (RELATIONS)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0845" y="8948524"/>
            <a:ext cx="1276270" cy="92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6"/>
              </a:lnSpc>
            </a:pPr>
            <a:r>
              <a:rPr lang="en-US" sz="546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5920609" y="-3811073"/>
            <a:ext cx="3940222" cy="4453280"/>
            <a:chOff x="0" y="0"/>
            <a:chExt cx="71915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9158" cy="812800"/>
            </a:xfrm>
            <a:custGeom>
              <a:avLst/>
              <a:gdLst/>
              <a:ahLst/>
              <a:cxnLst/>
              <a:rect r="r" b="b" t="t" l="l"/>
              <a:pathLst>
                <a:path h="812800" w="719158">
                  <a:moveTo>
                    <a:pt x="359579" y="0"/>
                  </a:moveTo>
                  <a:lnTo>
                    <a:pt x="719158" y="406400"/>
                  </a:lnTo>
                  <a:lnTo>
                    <a:pt x="359579" y="812800"/>
                  </a:lnTo>
                  <a:lnTo>
                    <a:pt x="0" y="406400"/>
                  </a:lnTo>
                  <a:lnTo>
                    <a:pt x="359579" y="0"/>
                  </a:lnTo>
                  <a:close/>
                </a:path>
              </a:pathLst>
            </a:custGeom>
            <a:solidFill>
              <a:srgbClr val="251D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3605" y="82550"/>
              <a:ext cx="471948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700000">
            <a:off x="14899460" y="-1961926"/>
            <a:ext cx="1618986" cy="2079784"/>
            <a:chOff x="0" y="0"/>
            <a:chExt cx="426400" cy="5477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6400" cy="547762"/>
            </a:xfrm>
            <a:custGeom>
              <a:avLst/>
              <a:gdLst/>
              <a:ahLst/>
              <a:cxnLst/>
              <a:rect r="r" b="b" t="t" l="l"/>
              <a:pathLst>
                <a:path h="547762" w="426400">
                  <a:moveTo>
                    <a:pt x="0" y="0"/>
                  </a:moveTo>
                  <a:lnTo>
                    <a:pt x="426400" y="0"/>
                  </a:lnTo>
                  <a:lnTo>
                    <a:pt x="426400" y="547762"/>
                  </a:lnTo>
                  <a:lnTo>
                    <a:pt x="0" y="547762"/>
                  </a:lnTo>
                  <a:close/>
                </a:path>
              </a:pathLst>
            </a:custGeom>
            <a:solidFill>
              <a:srgbClr val="AC978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26400" cy="6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5708953" y="-1883300"/>
            <a:ext cx="2525680" cy="25256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483455" y="735883"/>
            <a:ext cx="444750" cy="700394"/>
          </a:xfrm>
          <a:custGeom>
            <a:avLst/>
            <a:gdLst/>
            <a:ahLst/>
            <a:cxnLst/>
            <a:rect r="r" b="b" t="t" l="l"/>
            <a:pathLst>
              <a:path h="700394" w="444750">
                <a:moveTo>
                  <a:pt x="0" y="0"/>
                </a:moveTo>
                <a:lnTo>
                  <a:pt x="444750" y="0"/>
                </a:lnTo>
                <a:lnTo>
                  <a:pt x="444750" y="700394"/>
                </a:lnTo>
                <a:lnTo>
                  <a:pt x="0" y="700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2700000">
            <a:off x="-1782467" y="6655422"/>
            <a:ext cx="3580374" cy="5738426"/>
            <a:chOff x="0" y="0"/>
            <a:chExt cx="1351284" cy="21657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51284" cy="2165763"/>
            </a:xfrm>
            <a:custGeom>
              <a:avLst/>
              <a:gdLst/>
              <a:ahLst/>
              <a:cxnLst/>
              <a:rect r="r" b="b" t="t" l="l"/>
              <a:pathLst>
                <a:path h="2165763" w="1351284">
                  <a:moveTo>
                    <a:pt x="0" y="0"/>
                  </a:moveTo>
                  <a:lnTo>
                    <a:pt x="1351284" y="0"/>
                  </a:lnTo>
                  <a:lnTo>
                    <a:pt x="1351284" y="2165763"/>
                  </a:lnTo>
                  <a:lnTo>
                    <a:pt x="0" y="2165763"/>
                  </a:lnTo>
                  <a:close/>
                </a:path>
              </a:pathLst>
            </a:custGeom>
            <a:solidFill>
              <a:srgbClr val="AC978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351284" cy="2222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5400000">
            <a:off x="-1443520" y="7829921"/>
            <a:ext cx="6742743" cy="7620718"/>
            <a:chOff x="0" y="0"/>
            <a:chExt cx="719158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9158" cy="812800"/>
            </a:xfrm>
            <a:custGeom>
              <a:avLst/>
              <a:gdLst/>
              <a:ahLst/>
              <a:cxnLst/>
              <a:rect r="r" b="b" t="t" l="l"/>
              <a:pathLst>
                <a:path h="812800" w="719158">
                  <a:moveTo>
                    <a:pt x="359579" y="0"/>
                  </a:moveTo>
                  <a:lnTo>
                    <a:pt x="719158" y="406400"/>
                  </a:lnTo>
                  <a:lnTo>
                    <a:pt x="359579" y="812800"/>
                  </a:lnTo>
                  <a:lnTo>
                    <a:pt x="0" y="406400"/>
                  </a:lnTo>
                  <a:lnTo>
                    <a:pt x="359579" y="0"/>
                  </a:lnTo>
                  <a:close/>
                </a:path>
              </a:pathLst>
            </a:custGeom>
            <a:solidFill>
              <a:srgbClr val="251D1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23605" y="82550"/>
              <a:ext cx="471948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5400000">
            <a:off x="7720" y="8578831"/>
            <a:ext cx="1762519" cy="176251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3405861" y="3193587"/>
            <a:ext cx="6851806" cy="5567153"/>
          </a:xfrm>
          <a:custGeom>
            <a:avLst/>
            <a:gdLst/>
            <a:ahLst/>
            <a:cxnLst/>
            <a:rect r="r" b="b" t="t" l="l"/>
            <a:pathLst>
              <a:path h="5567153" w="6851806">
                <a:moveTo>
                  <a:pt x="0" y="0"/>
                </a:moveTo>
                <a:lnTo>
                  <a:pt x="6851806" y="0"/>
                </a:lnTo>
                <a:lnTo>
                  <a:pt x="6851806" y="5567153"/>
                </a:lnTo>
                <a:lnTo>
                  <a:pt x="0" y="55671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59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30673" y="735710"/>
            <a:ext cx="8296532" cy="189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DÉFINIR LES DATA PROPERTIES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076048" y="754760"/>
            <a:ext cx="2789540" cy="68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5"/>
              </a:lnSpc>
              <a:spcBef>
                <a:spcPct val="0"/>
              </a:spcBef>
            </a:pPr>
            <a:r>
              <a:rPr lang="en-US" sz="4017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NovaStack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0845" y="9013069"/>
            <a:ext cx="1276270" cy="92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6"/>
              </a:lnSpc>
            </a:pPr>
            <a:r>
              <a:rPr lang="en-US" sz="546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5920609" y="-3811073"/>
            <a:ext cx="3940222" cy="4453280"/>
            <a:chOff x="0" y="0"/>
            <a:chExt cx="71915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9158" cy="812800"/>
            </a:xfrm>
            <a:custGeom>
              <a:avLst/>
              <a:gdLst/>
              <a:ahLst/>
              <a:cxnLst/>
              <a:rect r="r" b="b" t="t" l="l"/>
              <a:pathLst>
                <a:path h="812800" w="719158">
                  <a:moveTo>
                    <a:pt x="359579" y="0"/>
                  </a:moveTo>
                  <a:lnTo>
                    <a:pt x="719158" y="406400"/>
                  </a:lnTo>
                  <a:lnTo>
                    <a:pt x="359579" y="812800"/>
                  </a:lnTo>
                  <a:lnTo>
                    <a:pt x="0" y="406400"/>
                  </a:lnTo>
                  <a:lnTo>
                    <a:pt x="359579" y="0"/>
                  </a:lnTo>
                  <a:close/>
                </a:path>
              </a:pathLst>
            </a:custGeom>
            <a:solidFill>
              <a:srgbClr val="251D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3605" y="82550"/>
              <a:ext cx="471948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700000">
            <a:off x="14899460" y="-1961926"/>
            <a:ext cx="1618986" cy="2079784"/>
            <a:chOff x="0" y="0"/>
            <a:chExt cx="426400" cy="5477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6400" cy="547762"/>
            </a:xfrm>
            <a:custGeom>
              <a:avLst/>
              <a:gdLst/>
              <a:ahLst/>
              <a:cxnLst/>
              <a:rect r="r" b="b" t="t" l="l"/>
              <a:pathLst>
                <a:path h="547762" w="426400">
                  <a:moveTo>
                    <a:pt x="0" y="0"/>
                  </a:moveTo>
                  <a:lnTo>
                    <a:pt x="426400" y="0"/>
                  </a:lnTo>
                  <a:lnTo>
                    <a:pt x="426400" y="547762"/>
                  </a:lnTo>
                  <a:lnTo>
                    <a:pt x="0" y="547762"/>
                  </a:lnTo>
                  <a:close/>
                </a:path>
              </a:pathLst>
            </a:custGeom>
            <a:solidFill>
              <a:srgbClr val="AC978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26400" cy="6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5708953" y="-1883300"/>
            <a:ext cx="2525680" cy="25256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5400000">
            <a:off x="6840539" y="-2815263"/>
            <a:ext cx="4561275" cy="18226912"/>
            <a:chOff x="0" y="0"/>
            <a:chExt cx="1201323" cy="48005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01323" cy="4800503"/>
            </a:xfrm>
            <a:custGeom>
              <a:avLst/>
              <a:gdLst/>
              <a:ahLst/>
              <a:cxnLst/>
              <a:rect r="r" b="b" t="t" l="l"/>
              <a:pathLst>
                <a:path h="4800503" w="1201323">
                  <a:moveTo>
                    <a:pt x="0" y="0"/>
                  </a:moveTo>
                  <a:lnTo>
                    <a:pt x="1201323" y="0"/>
                  </a:lnTo>
                  <a:lnTo>
                    <a:pt x="1201323" y="4800503"/>
                  </a:lnTo>
                  <a:lnTo>
                    <a:pt x="0" y="480050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201323" cy="4857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483455" y="735883"/>
            <a:ext cx="444750" cy="700394"/>
          </a:xfrm>
          <a:custGeom>
            <a:avLst/>
            <a:gdLst/>
            <a:ahLst/>
            <a:cxnLst/>
            <a:rect r="r" b="b" t="t" l="l"/>
            <a:pathLst>
              <a:path h="700394" w="444750">
                <a:moveTo>
                  <a:pt x="0" y="0"/>
                </a:moveTo>
                <a:lnTo>
                  <a:pt x="444750" y="0"/>
                </a:lnTo>
                <a:lnTo>
                  <a:pt x="444750" y="700394"/>
                </a:lnTo>
                <a:lnTo>
                  <a:pt x="0" y="700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-2700000">
            <a:off x="-1782467" y="6655422"/>
            <a:ext cx="3580374" cy="5738426"/>
            <a:chOff x="0" y="0"/>
            <a:chExt cx="1351284" cy="21657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51284" cy="2165763"/>
            </a:xfrm>
            <a:custGeom>
              <a:avLst/>
              <a:gdLst/>
              <a:ahLst/>
              <a:cxnLst/>
              <a:rect r="r" b="b" t="t" l="l"/>
              <a:pathLst>
                <a:path h="2165763" w="1351284">
                  <a:moveTo>
                    <a:pt x="0" y="0"/>
                  </a:moveTo>
                  <a:lnTo>
                    <a:pt x="1351284" y="0"/>
                  </a:lnTo>
                  <a:lnTo>
                    <a:pt x="1351284" y="2165763"/>
                  </a:lnTo>
                  <a:lnTo>
                    <a:pt x="0" y="2165763"/>
                  </a:lnTo>
                  <a:close/>
                </a:path>
              </a:pathLst>
            </a:custGeom>
            <a:solidFill>
              <a:srgbClr val="AC978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351284" cy="2222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5400000">
            <a:off x="-1443520" y="7829921"/>
            <a:ext cx="6742743" cy="7620718"/>
            <a:chOff x="0" y="0"/>
            <a:chExt cx="719158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9158" cy="812800"/>
            </a:xfrm>
            <a:custGeom>
              <a:avLst/>
              <a:gdLst/>
              <a:ahLst/>
              <a:cxnLst/>
              <a:rect r="r" b="b" t="t" l="l"/>
              <a:pathLst>
                <a:path h="812800" w="719158">
                  <a:moveTo>
                    <a:pt x="359579" y="0"/>
                  </a:moveTo>
                  <a:lnTo>
                    <a:pt x="719158" y="406400"/>
                  </a:lnTo>
                  <a:lnTo>
                    <a:pt x="359579" y="812800"/>
                  </a:lnTo>
                  <a:lnTo>
                    <a:pt x="0" y="406400"/>
                  </a:lnTo>
                  <a:lnTo>
                    <a:pt x="359579" y="0"/>
                  </a:lnTo>
                  <a:close/>
                </a:path>
              </a:pathLst>
            </a:custGeom>
            <a:solidFill>
              <a:srgbClr val="251D1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23605" y="82550"/>
              <a:ext cx="471948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5400000">
            <a:off x="7720" y="8578831"/>
            <a:ext cx="1762519" cy="1762519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2796720" y="5143500"/>
            <a:ext cx="10215683" cy="1559664"/>
          </a:xfrm>
          <a:custGeom>
            <a:avLst/>
            <a:gdLst/>
            <a:ahLst/>
            <a:cxnLst/>
            <a:rect r="r" b="b" t="t" l="l"/>
            <a:pathLst>
              <a:path h="1559664" w="10215683">
                <a:moveTo>
                  <a:pt x="0" y="0"/>
                </a:moveTo>
                <a:lnTo>
                  <a:pt x="10215683" y="0"/>
                </a:lnTo>
                <a:lnTo>
                  <a:pt x="10215683" y="1559664"/>
                </a:lnTo>
                <a:lnTo>
                  <a:pt x="0" y="15596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" t="-7980" r="-4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30673" y="735710"/>
            <a:ext cx="8296532" cy="189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AJOUTER DES RESTRICTIONS (OWL)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0845" y="9013069"/>
            <a:ext cx="1276270" cy="92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6"/>
              </a:lnSpc>
            </a:pPr>
            <a:r>
              <a:rPr lang="en-US" sz="546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5920609" y="-3811073"/>
            <a:ext cx="3940222" cy="4453280"/>
            <a:chOff x="0" y="0"/>
            <a:chExt cx="71915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9158" cy="812800"/>
            </a:xfrm>
            <a:custGeom>
              <a:avLst/>
              <a:gdLst/>
              <a:ahLst/>
              <a:cxnLst/>
              <a:rect r="r" b="b" t="t" l="l"/>
              <a:pathLst>
                <a:path h="812800" w="719158">
                  <a:moveTo>
                    <a:pt x="359579" y="0"/>
                  </a:moveTo>
                  <a:lnTo>
                    <a:pt x="719158" y="406400"/>
                  </a:lnTo>
                  <a:lnTo>
                    <a:pt x="359579" y="812800"/>
                  </a:lnTo>
                  <a:lnTo>
                    <a:pt x="0" y="406400"/>
                  </a:lnTo>
                  <a:lnTo>
                    <a:pt x="359579" y="0"/>
                  </a:lnTo>
                  <a:close/>
                </a:path>
              </a:pathLst>
            </a:custGeom>
            <a:solidFill>
              <a:srgbClr val="251D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3605" y="82550"/>
              <a:ext cx="471948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700000">
            <a:off x="14899460" y="-1961926"/>
            <a:ext cx="1618986" cy="2079784"/>
            <a:chOff x="0" y="0"/>
            <a:chExt cx="426400" cy="5477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6400" cy="547762"/>
            </a:xfrm>
            <a:custGeom>
              <a:avLst/>
              <a:gdLst/>
              <a:ahLst/>
              <a:cxnLst/>
              <a:rect r="r" b="b" t="t" l="l"/>
              <a:pathLst>
                <a:path h="547762" w="426400">
                  <a:moveTo>
                    <a:pt x="0" y="0"/>
                  </a:moveTo>
                  <a:lnTo>
                    <a:pt x="426400" y="0"/>
                  </a:lnTo>
                  <a:lnTo>
                    <a:pt x="426400" y="547762"/>
                  </a:lnTo>
                  <a:lnTo>
                    <a:pt x="0" y="547762"/>
                  </a:lnTo>
                  <a:close/>
                </a:path>
              </a:pathLst>
            </a:custGeom>
            <a:solidFill>
              <a:srgbClr val="AC978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26400" cy="6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5708953" y="-1883300"/>
            <a:ext cx="2525680" cy="25256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5400000">
            <a:off x="6232775" y="-3485920"/>
            <a:ext cx="5849220" cy="18280280"/>
            <a:chOff x="0" y="0"/>
            <a:chExt cx="1540535" cy="48145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0535" cy="4814559"/>
            </a:xfrm>
            <a:custGeom>
              <a:avLst/>
              <a:gdLst/>
              <a:ahLst/>
              <a:cxnLst/>
              <a:rect r="r" b="b" t="t" l="l"/>
              <a:pathLst>
                <a:path h="4814559" w="1540535">
                  <a:moveTo>
                    <a:pt x="0" y="0"/>
                  </a:moveTo>
                  <a:lnTo>
                    <a:pt x="1540535" y="0"/>
                  </a:lnTo>
                  <a:lnTo>
                    <a:pt x="1540535" y="4814559"/>
                  </a:lnTo>
                  <a:lnTo>
                    <a:pt x="0" y="481455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540535" cy="4871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483455" y="735883"/>
            <a:ext cx="444750" cy="700394"/>
          </a:xfrm>
          <a:custGeom>
            <a:avLst/>
            <a:gdLst/>
            <a:ahLst/>
            <a:cxnLst/>
            <a:rect r="r" b="b" t="t" l="l"/>
            <a:pathLst>
              <a:path h="700394" w="444750">
                <a:moveTo>
                  <a:pt x="0" y="0"/>
                </a:moveTo>
                <a:lnTo>
                  <a:pt x="444750" y="0"/>
                </a:lnTo>
                <a:lnTo>
                  <a:pt x="444750" y="700394"/>
                </a:lnTo>
                <a:lnTo>
                  <a:pt x="0" y="700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-2700000">
            <a:off x="-1782467" y="6655422"/>
            <a:ext cx="3580374" cy="5738426"/>
            <a:chOff x="0" y="0"/>
            <a:chExt cx="1351284" cy="21657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51284" cy="2165763"/>
            </a:xfrm>
            <a:custGeom>
              <a:avLst/>
              <a:gdLst/>
              <a:ahLst/>
              <a:cxnLst/>
              <a:rect r="r" b="b" t="t" l="l"/>
              <a:pathLst>
                <a:path h="2165763" w="1351284">
                  <a:moveTo>
                    <a:pt x="0" y="0"/>
                  </a:moveTo>
                  <a:lnTo>
                    <a:pt x="1351284" y="0"/>
                  </a:lnTo>
                  <a:lnTo>
                    <a:pt x="1351284" y="2165763"/>
                  </a:lnTo>
                  <a:lnTo>
                    <a:pt x="0" y="2165763"/>
                  </a:lnTo>
                  <a:close/>
                </a:path>
              </a:pathLst>
            </a:custGeom>
            <a:solidFill>
              <a:srgbClr val="AC978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351284" cy="2222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5400000">
            <a:off x="-1443520" y="7829921"/>
            <a:ext cx="6742743" cy="7620718"/>
            <a:chOff x="0" y="0"/>
            <a:chExt cx="719158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9158" cy="812800"/>
            </a:xfrm>
            <a:custGeom>
              <a:avLst/>
              <a:gdLst/>
              <a:ahLst/>
              <a:cxnLst/>
              <a:rect r="r" b="b" t="t" l="l"/>
              <a:pathLst>
                <a:path h="812800" w="719158">
                  <a:moveTo>
                    <a:pt x="359579" y="0"/>
                  </a:moveTo>
                  <a:lnTo>
                    <a:pt x="719158" y="406400"/>
                  </a:lnTo>
                  <a:lnTo>
                    <a:pt x="359579" y="812800"/>
                  </a:lnTo>
                  <a:lnTo>
                    <a:pt x="0" y="406400"/>
                  </a:lnTo>
                  <a:lnTo>
                    <a:pt x="359579" y="0"/>
                  </a:lnTo>
                  <a:close/>
                </a:path>
              </a:pathLst>
            </a:custGeom>
            <a:solidFill>
              <a:srgbClr val="251D1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23605" y="82550"/>
              <a:ext cx="471948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5400000">
            <a:off x="7720" y="8578831"/>
            <a:ext cx="1762519" cy="1762519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3302413" y="3340035"/>
            <a:ext cx="9488485" cy="5117735"/>
          </a:xfrm>
          <a:custGeom>
            <a:avLst/>
            <a:gdLst/>
            <a:ahLst/>
            <a:cxnLst/>
            <a:rect r="r" b="b" t="t" l="l"/>
            <a:pathLst>
              <a:path h="5117735" w="9488485">
                <a:moveTo>
                  <a:pt x="0" y="0"/>
                </a:moveTo>
                <a:lnTo>
                  <a:pt x="9488486" y="0"/>
                </a:lnTo>
                <a:lnTo>
                  <a:pt x="9488486" y="5117735"/>
                </a:lnTo>
                <a:lnTo>
                  <a:pt x="0" y="51177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144" r="0" b="-2144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256581" y="2917775"/>
            <a:ext cx="5209232" cy="42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Blinker"/>
                <a:ea typeface="Blinker"/>
                <a:cs typeface="Blinker"/>
                <a:sym typeface="Blinker"/>
              </a:rPr>
              <a:t>Fichi</a:t>
            </a:r>
            <a:r>
              <a:rPr lang="en-US" sz="2500">
                <a:solidFill>
                  <a:srgbClr val="000000"/>
                </a:solidFill>
                <a:latin typeface="Blinker"/>
                <a:ea typeface="Blinker"/>
                <a:cs typeface="Blinker"/>
                <a:sym typeface="Blinker"/>
              </a:rPr>
              <a:t>er ontologie_ecotourisme.owl 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0673" y="735710"/>
            <a:ext cx="10886068" cy="189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RDF/XML (ONTOLOGIE COMPLÈTE)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0845" y="9013069"/>
            <a:ext cx="1276270" cy="92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6"/>
              </a:lnSpc>
            </a:pPr>
            <a:r>
              <a:rPr lang="en-US" sz="546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6060852" y="-4211828"/>
            <a:ext cx="6742743" cy="7620718"/>
            <a:chOff x="0" y="0"/>
            <a:chExt cx="71915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9158" cy="812800"/>
            </a:xfrm>
            <a:custGeom>
              <a:avLst/>
              <a:gdLst/>
              <a:ahLst/>
              <a:cxnLst/>
              <a:rect r="r" b="b" t="t" l="l"/>
              <a:pathLst>
                <a:path h="812800" w="719158">
                  <a:moveTo>
                    <a:pt x="359579" y="0"/>
                  </a:moveTo>
                  <a:lnTo>
                    <a:pt x="719158" y="406400"/>
                  </a:lnTo>
                  <a:lnTo>
                    <a:pt x="359579" y="812800"/>
                  </a:lnTo>
                  <a:lnTo>
                    <a:pt x="0" y="406400"/>
                  </a:lnTo>
                  <a:lnTo>
                    <a:pt x="359579" y="0"/>
                  </a:lnTo>
                  <a:close/>
                </a:path>
              </a:pathLst>
            </a:custGeom>
            <a:solidFill>
              <a:srgbClr val="AC978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3605" y="82550"/>
              <a:ext cx="471948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47441" y="8377041"/>
            <a:ext cx="1762519" cy="176251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483455" y="735883"/>
            <a:ext cx="444750" cy="700394"/>
          </a:xfrm>
          <a:custGeom>
            <a:avLst/>
            <a:gdLst/>
            <a:ahLst/>
            <a:cxnLst/>
            <a:rect r="r" b="b" t="t" l="l"/>
            <a:pathLst>
              <a:path h="700394" w="444750">
                <a:moveTo>
                  <a:pt x="0" y="0"/>
                </a:moveTo>
                <a:lnTo>
                  <a:pt x="444750" y="0"/>
                </a:lnTo>
                <a:lnTo>
                  <a:pt x="444750" y="700394"/>
                </a:lnTo>
                <a:lnTo>
                  <a:pt x="0" y="700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2670" y="1970840"/>
            <a:ext cx="8508237" cy="5532383"/>
          </a:xfrm>
          <a:custGeom>
            <a:avLst/>
            <a:gdLst/>
            <a:ahLst/>
            <a:cxnLst/>
            <a:rect r="r" b="b" t="t" l="l"/>
            <a:pathLst>
              <a:path h="5532383" w="8508237">
                <a:moveTo>
                  <a:pt x="0" y="0"/>
                </a:moveTo>
                <a:lnTo>
                  <a:pt x="8508237" y="0"/>
                </a:lnTo>
                <a:lnTo>
                  <a:pt x="8508237" y="5532383"/>
                </a:lnTo>
                <a:lnTo>
                  <a:pt x="0" y="55323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68631" y="1394161"/>
            <a:ext cx="7614835" cy="5926061"/>
          </a:xfrm>
          <a:custGeom>
            <a:avLst/>
            <a:gdLst/>
            <a:ahLst/>
            <a:cxnLst/>
            <a:rect r="r" b="b" t="t" l="l"/>
            <a:pathLst>
              <a:path h="5926061" w="7614835">
                <a:moveTo>
                  <a:pt x="0" y="0"/>
                </a:moveTo>
                <a:lnTo>
                  <a:pt x="7614835" y="0"/>
                </a:lnTo>
                <a:lnTo>
                  <a:pt x="7614835" y="5926062"/>
                </a:lnTo>
                <a:lnTo>
                  <a:pt x="0" y="59260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958990" y="6362415"/>
            <a:ext cx="7520448" cy="3722622"/>
          </a:xfrm>
          <a:custGeom>
            <a:avLst/>
            <a:gdLst/>
            <a:ahLst/>
            <a:cxnLst/>
            <a:rect r="r" b="b" t="t" l="l"/>
            <a:pathLst>
              <a:path h="3722622" w="7520448">
                <a:moveTo>
                  <a:pt x="0" y="0"/>
                </a:moveTo>
                <a:lnTo>
                  <a:pt x="7520448" y="0"/>
                </a:lnTo>
                <a:lnTo>
                  <a:pt x="7520448" y="3722622"/>
                </a:lnTo>
                <a:lnTo>
                  <a:pt x="0" y="37226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30673" y="745235"/>
            <a:ext cx="11809738" cy="781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1"/>
              </a:lnSpc>
            </a:pPr>
            <a:r>
              <a:rPr lang="en-US" sz="46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REQUÊTES DL QUERY DANS PROTÉGÉ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76048" y="754760"/>
            <a:ext cx="2789540" cy="68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5"/>
              </a:lnSpc>
              <a:spcBef>
                <a:spcPct val="0"/>
              </a:spcBef>
            </a:pPr>
            <a:r>
              <a:rPr lang="en-US" sz="4017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NovaStack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0565" y="8743233"/>
            <a:ext cx="1276270" cy="92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6"/>
              </a:lnSpc>
            </a:pPr>
            <a:r>
              <a:rPr lang="en-US" sz="546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8168" y="258496"/>
            <a:ext cx="6516278" cy="4885004"/>
          </a:xfrm>
          <a:custGeom>
            <a:avLst/>
            <a:gdLst/>
            <a:ahLst/>
            <a:cxnLst/>
            <a:rect r="r" b="b" t="t" l="l"/>
            <a:pathLst>
              <a:path h="4885004" w="6516278">
                <a:moveTo>
                  <a:pt x="0" y="0"/>
                </a:moveTo>
                <a:lnTo>
                  <a:pt x="6516277" y="0"/>
                </a:lnTo>
                <a:lnTo>
                  <a:pt x="6516277" y="4885004"/>
                </a:lnTo>
                <a:lnTo>
                  <a:pt x="0" y="48850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35799" y="258496"/>
            <a:ext cx="6445773" cy="4832149"/>
          </a:xfrm>
          <a:custGeom>
            <a:avLst/>
            <a:gdLst/>
            <a:ahLst/>
            <a:cxnLst/>
            <a:rect r="r" b="b" t="t" l="l"/>
            <a:pathLst>
              <a:path h="4832149" w="6445773">
                <a:moveTo>
                  <a:pt x="0" y="0"/>
                </a:moveTo>
                <a:lnTo>
                  <a:pt x="6445772" y="0"/>
                </a:lnTo>
                <a:lnTo>
                  <a:pt x="6445772" y="4832149"/>
                </a:lnTo>
                <a:lnTo>
                  <a:pt x="0" y="4832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78271" y="5143500"/>
            <a:ext cx="6554024" cy="4913300"/>
          </a:xfrm>
          <a:custGeom>
            <a:avLst/>
            <a:gdLst/>
            <a:ahLst/>
            <a:cxnLst/>
            <a:rect r="r" b="b" t="t" l="l"/>
            <a:pathLst>
              <a:path h="4913300" w="6554024">
                <a:moveTo>
                  <a:pt x="0" y="0"/>
                </a:moveTo>
                <a:lnTo>
                  <a:pt x="6554023" y="0"/>
                </a:lnTo>
                <a:lnTo>
                  <a:pt x="6554023" y="4913300"/>
                </a:lnTo>
                <a:lnTo>
                  <a:pt x="0" y="4913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0845" y="9013069"/>
            <a:ext cx="1276270" cy="92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6"/>
              </a:lnSpc>
            </a:pPr>
            <a:r>
              <a:rPr lang="en-US" sz="546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-1782467" y="6655422"/>
            <a:ext cx="3580374" cy="5738426"/>
            <a:chOff x="0" y="0"/>
            <a:chExt cx="1351284" cy="21657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1284" cy="2165763"/>
            </a:xfrm>
            <a:custGeom>
              <a:avLst/>
              <a:gdLst/>
              <a:ahLst/>
              <a:cxnLst/>
              <a:rect r="r" b="b" t="t" l="l"/>
              <a:pathLst>
                <a:path h="2165763" w="1351284">
                  <a:moveTo>
                    <a:pt x="0" y="0"/>
                  </a:moveTo>
                  <a:lnTo>
                    <a:pt x="1351284" y="0"/>
                  </a:lnTo>
                  <a:lnTo>
                    <a:pt x="1351284" y="2165763"/>
                  </a:lnTo>
                  <a:lnTo>
                    <a:pt x="0" y="2165763"/>
                  </a:lnTo>
                  <a:close/>
                </a:path>
              </a:pathLst>
            </a:custGeom>
            <a:solidFill>
              <a:srgbClr val="AC978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351284" cy="2222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7720" y="8578831"/>
            <a:ext cx="1762519" cy="176251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303154" y="785309"/>
            <a:ext cx="5848402" cy="6356958"/>
          </a:xfrm>
          <a:custGeom>
            <a:avLst/>
            <a:gdLst/>
            <a:ahLst/>
            <a:cxnLst/>
            <a:rect r="r" b="b" t="t" l="l"/>
            <a:pathLst>
              <a:path h="6356958" w="5848402">
                <a:moveTo>
                  <a:pt x="0" y="0"/>
                </a:moveTo>
                <a:lnTo>
                  <a:pt x="5848402" y="0"/>
                </a:lnTo>
                <a:lnTo>
                  <a:pt x="5848402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0845" y="9013069"/>
            <a:ext cx="1276270" cy="92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6"/>
              </a:lnSpc>
            </a:pPr>
            <a:r>
              <a:rPr lang="en-US" sz="546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151556" y="1956123"/>
            <a:ext cx="9372867" cy="5364836"/>
          </a:xfrm>
          <a:custGeom>
            <a:avLst/>
            <a:gdLst/>
            <a:ahLst/>
            <a:cxnLst/>
            <a:rect r="r" b="b" t="t" l="l"/>
            <a:pathLst>
              <a:path h="5364836" w="9372867">
                <a:moveTo>
                  <a:pt x="0" y="0"/>
                </a:moveTo>
                <a:lnTo>
                  <a:pt x="9372867" y="0"/>
                </a:lnTo>
                <a:lnTo>
                  <a:pt x="9372867" y="5364836"/>
                </a:lnTo>
                <a:lnTo>
                  <a:pt x="0" y="536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076660" y="1197284"/>
            <a:ext cx="4831854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Étape 5: Créer les Individus (Instances)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40440" y="119754"/>
            <a:ext cx="11353099" cy="10047493"/>
          </a:xfrm>
          <a:custGeom>
            <a:avLst/>
            <a:gdLst/>
            <a:ahLst/>
            <a:cxnLst/>
            <a:rect r="r" b="b" t="t" l="l"/>
            <a:pathLst>
              <a:path h="10047493" w="11353099">
                <a:moveTo>
                  <a:pt x="0" y="0"/>
                </a:moveTo>
                <a:lnTo>
                  <a:pt x="11353099" y="0"/>
                </a:lnTo>
                <a:lnTo>
                  <a:pt x="11353099" y="10047492"/>
                </a:lnTo>
                <a:lnTo>
                  <a:pt x="0" y="10047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0565" y="9163050"/>
            <a:ext cx="1276270" cy="92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6"/>
              </a:lnSpc>
            </a:pPr>
            <a:r>
              <a:rPr lang="en-US" sz="546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83455" y="735883"/>
            <a:ext cx="444750" cy="700394"/>
          </a:xfrm>
          <a:custGeom>
            <a:avLst/>
            <a:gdLst/>
            <a:ahLst/>
            <a:cxnLst/>
            <a:rect r="r" b="b" t="t" l="l"/>
            <a:pathLst>
              <a:path h="700394" w="444750">
                <a:moveTo>
                  <a:pt x="0" y="0"/>
                </a:moveTo>
                <a:lnTo>
                  <a:pt x="444750" y="0"/>
                </a:lnTo>
                <a:lnTo>
                  <a:pt x="444750" y="700394"/>
                </a:lnTo>
                <a:lnTo>
                  <a:pt x="0" y="700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6835" y="712008"/>
            <a:ext cx="15009938" cy="8443090"/>
          </a:xfrm>
          <a:custGeom>
            <a:avLst/>
            <a:gdLst/>
            <a:ahLst/>
            <a:cxnLst/>
            <a:rect r="r" b="b" t="t" l="l"/>
            <a:pathLst>
              <a:path h="8443090" w="15009938">
                <a:moveTo>
                  <a:pt x="0" y="0"/>
                </a:moveTo>
                <a:lnTo>
                  <a:pt x="15009938" y="0"/>
                </a:lnTo>
                <a:lnTo>
                  <a:pt x="15009938" y="8443090"/>
                </a:lnTo>
                <a:lnTo>
                  <a:pt x="0" y="84430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0565" y="9163050"/>
            <a:ext cx="1276270" cy="92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6"/>
              </a:lnSpc>
            </a:pPr>
            <a:r>
              <a:rPr lang="en-US" sz="546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-4895234" y="2224946"/>
            <a:ext cx="8446229" cy="13172010"/>
            <a:chOff x="0" y="0"/>
            <a:chExt cx="2277659" cy="35520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7659" cy="3552041"/>
            </a:xfrm>
            <a:custGeom>
              <a:avLst/>
              <a:gdLst/>
              <a:ahLst/>
              <a:cxnLst/>
              <a:rect r="r" b="b" t="t" l="l"/>
              <a:pathLst>
                <a:path h="3552041" w="2277659">
                  <a:moveTo>
                    <a:pt x="0" y="0"/>
                  </a:moveTo>
                  <a:lnTo>
                    <a:pt x="2277659" y="0"/>
                  </a:lnTo>
                  <a:lnTo>
                    <a:pt x="2277659" y="3552041"/>
                  </a:lnTo>
                  <a:lnTo>
                    <a:pt x="0" y="3552041"/>
                  </a:lnTo>
                  <a:close/>
                </a:path>
              </a:pathLst>
            </a:custGeom>
            <a:solidFill>
              <a:srgbClr val="AC978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277659" cy="3609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1793921" y="5367029"/>
            <a:ext cx="11907594" cy="13458085"/>
            <a:chOff x="0" y="0"/>
            <a:chExt cx="719158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9158" cy="812800"/>
            </a:xfrm>
            <a:custGeom>
              <a:avLst/>
              <a:gdLst/>
              <a:ahLst/>
              <a:cxnLst/>
              <a:rect r="r" b="b" t="t" l="l"/>
              <a:pathLst>
                <a:path h="812800" w="719158">
                  <a:moveTo>
                    <a:pt x="359579" y="0"/>
                  </a:moveTo>
                  <a:lnTo>
                    <a:pt x="719158" y="406400"/>
                  </a:lnTo>
                  <a:lnTo>
                    <a:pt x="359579" y="812800"/>
                  </a:lnTo>
                  <a:lnTo>
                    <a:pt x="0" y="406400"/>
                  </a:lnTo>
                  <a:lnTo>
                    <a:pt x="359579" y="0"/>
                  </a:lnTo>
                  <a:close/>
                </a:path>
              </a:pathLst>
            </a:custGeom>
            <a:solidFill>
              <a:srgbClr val="251D1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3605" y="82550"/>
              <a:ext cx="471948" cy="59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584908" y="102142"/>
            <a:ext cx="11756571" cy="8229600"/>
          </a:xfrm>
          <a:custGeom>
            <a:avLst/>
            <a:gdLst/>
            <a:ahLst/>
            <a:cxnLst/>
            <a:rect r="r" b="b" t="t" l="l"/>
            <a:pathLst>
              <a:path h="8229600" w="11756571">
                <a:moveTo>
                  <a:pt x="0" y="0"/>
                </a:moveTo>
                <a:lnTo>
                  <a:pt x="11756571" y="0"/>
                </a:lnTo>
                <a:lnTo>
                  <a:pt x="1175657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DAG0Kv0OpiE</dc:identifier>
  <dcterms:modified xsi:type="dcterms:W3CDTF">2011-08-01T06:04:30Z</dcterms:modified>
  <cp:revision>1</cp:revision>
  <dc:title>Tourisme Éco-responsable :</dc:title>
</cp:coreProperties>
</file>